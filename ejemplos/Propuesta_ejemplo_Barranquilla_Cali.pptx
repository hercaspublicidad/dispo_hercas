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CC53AAA-3087-4AFD-8B1A-AD15B7C8C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77B74B4-F0D0-47A5-9C06-3B83490F3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1701A53F-47FB-4BC0-9E33-DFF4443C6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8F0E1CB-7427-4DDD-86FE-CF0348AF9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1C6647B-4B55-4DA9-9355-44389FF89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A8E45A5-4DB8-4223-B0DA-A682D1A5D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950CBEF-1431-4F22-BB07-A852324AD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D872FD4-0F8C-4D41-95FC-9CE71832FDB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B98DAD-1605-4376-92D6-A1843DE9E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07B654C-4B0A-46CE-9BEE-21EFB96B2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0"/>
            <a:ext cx="6522720" cy="6858000"/>
          </a:xfrm>
          <a:prstGeom prst="rect">
            <a:avLst/>
          </a:prstGeom>
        </p:spPr>
      </p:pic>
      <p:sp>
        <p:nvSpPr>
          <p:cNvPr id="3" name="marca"/>
          <p:cNvSpPr txBox="1"/>
          <p:nvPr/>
        </p:nvSpPr>
        <p:spPr>
          <a:xfrm>
            <a:off x="731520" y="50292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HERCAS</a:t>
            </a:r>
          </a:p>
        </p:txBody>
      </p:sp>
      <p:sp>
        <p:nvSpPr>
          <p:cNvPr id="4" name="titulo portada"/>
          <p:cNvSpPr txBox="1"/>
          <p:nvPr/>
        </p:nvSpPr>
        <p:spPr>
          <a:xfrm>
            <a:off x="731520" y="1645920"/>
            <a:ext cx="49377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300" b="1">
                <a:solidFill>
                  <a:srgbClr val="FFCF14"/>
                </a:solidFill>
                <a:latin typeface="Arial"/>
              </a:rPr>
              <a:t>VALLAS
DISPONIBLES</a:t>
            </a:r>
          </a:p>
        </p:txBody>
      </p:sp>
      <p:sp>
        <p:nvSpPr>
          <p:cNvPr id="5" name="resumen"/>
          <p:cNvSpPr txBox="1"/>
          <p:nvPr/>
        </p:nvSpPr>
        <p:spPr>
          <a:xfrm>
            <a:off x="731520" y="502920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2 vallas seleccionadas  |  2 ciudades</a:t>
            </a:r>
          </a:p>
        </p:txBody>
      </p:sp>
      <p:sp>
        <p:nvSpPr>
          <p:cNvPr id="6" name="vigencia"/>
          <p:cNvSpPr txBox="1"/>
          <p:nvPr/>
        </p:nvSpPr>
        <p:spPr>
          <a:xfrm>
            <a:off x="731520" y="6080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6D2E4"/>
                </a:solidFill>
                <a:latin typeface="Arial"/>
              </a:rPr>
              <a:t>Disponibilidad sujeta a confirmación antes de contratar.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to ciudad" descr="MV-BAQ-002_foto_HERCAS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iltro azu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446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alo azul"/>
          <p:cNvSpPr/>
          <p:nvPr/>
        </p:nvSpPr>
        <p:spPr>
          <a:xfrm>
            <a:off x="3200400" y="1856231"/>
            <a:ext cx="5394960" cy="3246120"/>
          </a:xfrm>
          <a:prstGeom prst="ellipse">
            <a:avLst/>
          </a:prstGeom>
          <a:solidFill>
            <a:srgbClr val="00113E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micírculo amarillo"/>
          <p:cNvSpPr/>
          <p:nvPr/>
        </p:nvSpPr>
        <p:spPr>
          <a:xfrm>
            <a:off x="2852928" y="2450592"/>
            <a:ext cx="822960" cy="411480"/>
          </a:xfrm>
          <a:custGeom>
            <a:avLst/>
            <a:gdLst/>
            <a:ahLst/>
            <a:cxnLst/>
            <a:rect l="l" t="t" r="r" b="b"/>
            <a:pathLst>
              <a:path w="1000" h="500">
                <a:moveTo>
                  <a:pt x="0" y="0"/>
                </a:moveTo>
                <a:lnTo>
                  <a:pt x="1000" y="0"/>
                </a:lnTo>
                <a:lnTo>
                  <a:pt x="998" y="49"/>
                </a:lnTo>
                <a:lnTo>
                  <a:pt x="990" y="98"/>
                </a:lnTo>
                <a:lnTo>
                  <a:pt x="978" y="145"/>
                </a:lnTo>
                <a:lnTo>
                  <a:pt x="962" y="191"/>
                </a:lnTo>
                <a:lnTo>
                  <a:pt x="941" y="236"/>
                </a:lnTo>
                <a:lnTo>
                  <a:pt x="916" y="278"/>
                </a:lnTo>
                <a:lnTo>
                  <a:pt x="887" y="317"/>
                </a:lnTo>
                <a:lnTo>
                  <a:pt x="854" y="354"/>
                </a:lnTo>
                <a:lnTo>
                  <a:pt x="817" y="387"/>
                </a:lnTo>
                <a:lnTo>
                  <a:pt x="778" y="416"/>
                </a:lnTo>
                <a:lnTo>
                  <a:pt x="736" y="441"/>
                </a:lnTo>
                <a:lnTo>
                  <a:pt x="691" y="462"/>
                </a:lnTo>
                <a:lnTo>
                  <a:pt x="645" y="478"/>
                </a:lnTo>
                <a:lnTo>
                  <a:pt x="598" y="490"/>
                </a:lnTo>
                <a:lnTo>
                  <a:pt x="549" y="498"/>
                </a:lnTo>
                <a:lnTo>
                  <a:pt x="500" y="500"/>
                </a:lnTo>
                <a:lnTo>
                  <a:pt x="451" y="498"/>
                </a:lnTo>
                <a:lnTo>
                  <a:pt x="402" y="490"/>
                </a:lnTo>
                <a:lnTo>
                  <a:pt x="355" y="478"/>
                </a:lnTo>
                <a:lnTo>
                  <a:pt x="309" y="462"/>
                </a:lnTo>
                <a:lnTo>
                  <a:pt x="264" y="441"/>
                </a:lnTo>
                <a:lnTo>
                  <a:pt x="222" y="416"/>
                </a:lnTo>
                <a:lnTo>
                  <a:pt x="183" y="387"/>
                </a:lnTo>
                <a:lnTo>
                  <a:pt x="146" y="354"/>
                </a:lnTo>
                <a:lnTo>
                  <a:pt x="113" y="317"/>
                </a:lnTo>
                <a:lnTo>
                  <a:pt x="84" y="278"/>
                </a:lnTo>
                <a:lnTo>
                  <a:pt x="59" y="236"/>
                </a:lnTo>
                <a:lnTo>
                  <a:pt x="38" y="191"/>
                </a:lnTo>
                <a:lnTo>
                  <a:pt x="22" y="145"/>
                </a:lnTo>
                <a:lnTo>
                  <a:pt x="10" y="98"/>
                </a:lnTo>
                <a:lnTo>
                  <a:pt x="2" y="49"/>
                </a:lnTo>
                <a:lnTo>
                  <a:pt x="0" y="0"/>
                </a:lnTo>
                <a:close/>
              </a:path>
            </a:pathLst>
          </a:custGeom>
          <a:solidFill>
            <a:srgbClr val="FFC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zona contorno"/>
          <p:cNvSpPr txBox="1"/>
          <p:nvPr/>
        </p:nvSpPr>
        <p:spPr>
          <a:xfrm>
            <a:off x="3822191" y="2240280"/>
            <a:ext cx="56692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700" b="0">
                <a:ln w="22860">
                  <a:solidFill>
                    <a:srgbClr val="FFFFFF"/>
                  </a:solidFill>
                </a:ln>
                <a:noFill/>
                <a:latin typeface="Arial"/>
              </a:rPr>
              <a:t>ZONA</a:t>
            </a:r>
          </a:p>
        </p:txBody>
      </p:sp>
      <p:sp>
        <p:nvSpPr>
          <p:cNvPr id="7" name="ciudad"/>
          <p:cNvSpPr txBox="1"/>
          <p:nvPr/>
        </p:nvSpPr>
        <p:spPr>
          <a:xfrm>
            <a:off x="3822191" y="3063240"/>
            <a:ext cx="749807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Arial"/>
              </a:rPr>
              <a:t>BARRANQUILLA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n 20" descr="image.jpg"/>
          <p:cNvPicPr>
            <a:picLocks noChangeAspect="1"/>
          </p:cNvPicPr>
          <p:nvPr/>
        </p:nvPicPr>
        <p:blipFill>
          <a:blip r:embed="rId2"/>
          <a:srcRect t="135" b="13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ulo">
            <a:extLst>
              <a:ext uri="{FF2B5EF4-FFF2-40B4-BE49-F238E27FC236}">
                <a16:creationId xmlns:a16="http://schemas.microsoft.com/office/drawing/2014/main" id="{9782076D-D1DF-48D0-9540-C22D09DD2E58}"/>
              </a:ext>
            </a:extLst>
          </p:cNvPr>
          <p:cNvSpPr>
            <a:spLocks noGrp="1"/>
          </p:cNvSpPr>
          <p:nvPr/>
        </p:nvSpPr>
        <p:spPr>
          <a:xfrm>
            <a:off x="590550" y="457200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rPr>
              <a:t>MV-BAQ-001 · VALLA CALLE 45 · ÉXITO MURILLO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825B7EEB-2D1E-4918-AF5F-9D97B88771A8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572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rPr>
              <a:t>METRO VIAS  ·  Barranquilla</a:t>
            </a:r>
          </a:p>
        </p:txBody>
      </p:sp>
      <p:sp>
        <p:nvSpPr>
          <p:cNvPr id="4" name="acento amarillo">
            <a:extLst>
              <a:ext uri="{FF2B5EF4-FFF2-40B4-BE49-F238E27FC236}">
                <a16:creationId xmlns:a16="http://schemas.microsoft.com/office/drawing/2014/main" id="{D0035B2D-BF33-44C6-B173-A4A918A9D1C2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3009900" cy="666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n 4" descr="image.jpg"/>
          <p:cNvPicPr>
            <a:picLocks noChangeAspect="1"/>
          </p:cNvPicPr>
          <p:nvPr/>
        </p:nvPicPr>
        <p:blipFill>
          <a:blip r:embed="rId3"/>
          <a:srcRect l="264" r="264"/>
          <a:stretch>
            <a:fillRect/>
          </a:stretch>
        </p:blipFill>
        <p:spPr>
          <a:xfrm>
            <a:off x="590550" y="1952625"/>
            <a:ext cx="6191250" cy="4438650"/>
          </a:xfrm>
          <a:prstGeom prst="rect">
            <a:avLst/>
          </a:prstGeom>
        </p:spPr>
      </p:pic>
      <p:sp>
        <p:nvSpPr>
          <p:cNvPr id="7" name="acento inferior foto">
            <a:extLst>
              <a:ext uri="{FF2B5EF4-FFF2-40B4-BE49-F238E27FC236}">
                <a16:creationId xmlns:a16="http://schemas.microsoft.com/office/drawing/2014/main" id="{C6674155-D490-42CF-A9CE-B35F57E3CA58}"/>
              </a:ext>
            </a:extLst>
          </p:cNvPr>
          <p:cNvSpPr>
            <a:spLocks noGrp="1"/>
          </p:cNvSpPr>
          <p:nvPr/>
        </p:nvSpPr>
        <p:spPr>
          <a:xfrm>
            <a:off x="590550" y="6096000"/>
            <a:ext cx="6191250" cy="285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9" name="panel de datos">
            <a:extLst>
              <a:ext uri="{FF2B5EF4-FFF2-40B4-BE49-F238E27FC236}">
                <a16:creationId xmlns:a16="http://schemas.microsoft.com/office/drawing/2014/main" id="{3407AB50-BED1-44F6-8FB3-E834E7C4E6A9}"/>
              </a:ext>
            </a:extLst>
          </p:cNvPr>
          <p:cNvSpPr>
            <a:spLocks noGrp="1"/>
          </p:cNvSpPr>
          <p:nvPr/>
        </p:nvSpPr>
        <p:spPr>
          <a:xfrm>
            <a:off x="7048500" y="1952625"/>
            <a:ext cx="4667250" cy="4438650"/>
          </a:xfrm>
          <a:prstGeom prst="rect">
            <a:avLst/>
          </a:prstGeom>
          <a:solidFill>
            <a:srgbClr val="0B2254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0" name="ubicacion rotulo">
            <a:extLst>
              <a:ext uri="{FF2B5EF4-FFF2-40B4-BE49-F238E27FC236}">
                <a16:creationId xmlns:a16="http://schemas.microsoft.com/office/drawing/2014/main" id="{6F244083-CBD5-4FBD-952C-0AC837A3B0D5}"/>
              </a:ext>
            </a:extLst>
          </p:cNvPr>
          <p:cNvSpPr>
            <a:spLocks noGrp="1"/>
          </p:cNvSpPr>
          <p:nvPr/>
        </p:nvSpPr>
        <p:spPr>
          <a:xfrm>
            <a:off x="7334250" y="218122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UBICACIÓN</a:t>
            </a:r>
          </a:p>
        </p:txBody>
      </p:sp>
      <p:sp>
        <p:nvSpPr>
          <p:cNvPr id="11" name="ubicacion">
            <a:extLst>
              <a:ext uri="{FF2B5EF4-FFF2-40B4-BE49-F238E27FC236}">
                <a16:creationId xmlns:a16="http://schemas.microsoft.com/office/drawing/2014/main" id="{271482A8-2674-4769-99C6-6B5247748660}"/>
              </a:ext>
            </a:extLst>
          </p:cNvPr>
          <p:cNvSpPr>
            <a:spLocks noGrp="1"/>
          </p:cNvSpPr>
          <p:nvPr/>
        </p:nvSpPr>
        <p:spPr>
          <a:xfrm>
            <a:off x="7334250" y="2486025"/>
            <a:ext cx="4000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Calle 45 con Cra. 27-24</a:t>
            </a:r>
          </a:p>
        </p:txBody>
      </p:sp>
      <p:sp>
        <p:nvSpPr>
          <p:cNvPr id="12" name="sentido">
            <a:extLst>
              <a:ext uri="{FF2B5EF4-FFF2-40B4-BE49-F238E27FC236}">
                <a16:creationId xmlns:a16="http://schemas.microsoft.com/office/drawing/2014/main" id="{DBFDE055-3C91-4F99-88B4-E5D2E5074D42}"/>
              </a:ext>
            </a:extLst>
          </p:cNvPr>
          <p:cNvSpPr>
            <a:spLocks noGrp="1"/>
          </p:cNvSpPr>
          <p:nvPr/>
        </p:nvSpPr>
        <p:spPr>
          <a:xfrm>
            <a:off x="7334250" y="2924175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Sentido: norte → sur</a:t>
            </a:r>
          </a:p>
        </p:txBody>
      </p:sp>
      <p:sp>
        <p:nvSpPr>
          <p:cNvPr id="13" name="formato rotulo">
            <a:extLst>
              <a:ext uri="{FF2B5EF4-FFF2-40B4-BE49-F238E27FC236}">
                <a16:creationId xmlns:a16="http://schemas.microsoft.com/office/drawing/2014/main" id="{A6651B5E-3E80-47F5-B380-446495F6387D}"/>
              </a:ext>
            </a:extLst>
          </p:cNvPr>
          <p:cNvSpPr>
            <a:spLocks noGrp="1"/>
          </p:cNvSpPr>
          <p:nvPr/>
        </p:nvSpPr>
        <p:spPr>
          <a:xfrm>
            <a:off x="7334250" y="3381375"/>
            <a:ext cx="4000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FORMATO</a:t>
            </a:r>
          </a:p>
        </p:txBody>
      </p:sp>
      <p:sp>
        <p:nvSpPr>
          <p:cNvPr id="14" name="formato">
            <a:extLst>
              <a:ext uri="{FF2B5EF4-FFF2-40B4-BE49-F238E27FC236}">
                <a16:creationId xmlns:a16="http://schemas.microsoft.com/office/drawing/2014/main" id="{2FF6641B-E5AB-448A-AF70-5C10634261BF}"/>
              </a:ext>
            </a:extLst>
          </p:cNvPr>
          <p:cNvSpPr>
            <a:spLocks noGrp="1"/>
          </p:cNvSpPr>
          <p:nvPr/>
        </p:nvSpPr>
        <p:spPr>
          <a:xfrm>
            <a:off x="7334250" y="3686175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Valla tradicional · 12 × 4 m</a:t>
            </a:r>
          </a:p>
        </p:txBody>
      </p:sp>
      <p:sp>
        <p:nvSpPr>
          <p:cNvPr id="15" name="entorno rotulo">
            <a:extLst>
              <a:ext uri="{FF2B5EF4-FFF2-40B4-BE49-F238E27FC236}">
                <a16:creationId xmlns:a16="http://schemas.microsoft.com/office/drawing/2014/main" id="{795BBB27-666E-401D-A5CA-6D6409BBA7F7}"/>
              </a:ext>
            </a:extLst>
          </p:cNvPr>
          <p:cNvSpPr>
            <a:spLocks noGrp="1"/>
          </p:cNvSpPr>
          <p:nvPr/>
        </p:nvSpPr>
        <p:spPr>
          <a:xfrm>
            <a:off x="7334250" y="41338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ENTORNO</a:t>
            </a:r>
          </a:p>
        </p:txBody>
      </p:sp>
      <p:sp>
        <p:nvSpPr>
          <p:cNvPr id="16" name="entorno">
            <a:extLst>
              <a:ext uri="{FF2B5EF4-FFF2-40B4-BE49-F238E27FC236}">
                <a16:creationId xmlns:a16="http://schemas.microsoft.com/office/drawing/2014/main" id="{97E05EC5-6293-437D-A886-4936DE692801}"/>
              </a:ext>
            </a:extLst>
          </p:cNvPr>
          <p:cNvSpPr>
            <a:spLocks noGrp="1"/>
          </p:cNvSpPr>
          <p:nvPr/>
        </p:nvSpPr>
        <p:spPr>
          <a:xfrm>
            <a:off x="7334250" y="439102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Éxito Murillo y estación del Transmetro</a:t>
            </a:r>
          </a:p>
        </p:txBody>
      </p:sp>
      <p:sp>
        <p:nvSpPr>
          <p:cNvPr id="17" name="separador">
            <a:extLst>
              <a:ext uri="{FF2B5EF4-FFF2-40B4-BE49-F238E27FC236}">
                <a16:creationId xmlns:a16="http://schemas.microsoft.com/office/drawing/2014/main" id="{B4B1A6F1-65FC-458C-9887-38855903A1D0}"/>
              </a:ext>
            </a:extLst>
          </p:cNvPr>
          <p:cNvSpPr>
            <a:spLocks noGrp="1"/>
          </p:cNvSpPr>
          <p:nvPr/>
        </p:nvSpPr>
        <p:spPr>
          <a:xfrm>
            <a:off x="7334250" y="4886325"/>
            <a:ext cx="4000500" cy="285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8" name="precio rotulo">
            <a:extLst>
              <a:ext uri="{FF2B5EF4-FFF2-40B4-BE49-F238E27FC236}">
                <a16:creationId xmlns:a16="http://schemas.microsoft.com/office/drawing/2014/main" id="{1E921867-7061-49F6-92B4-5E63F3863639}"/>
              </a:ext>
            </a:extLst>
          </p:cNvPr>
          <p:cNvSpPr>
            <a:spLocks noGrp="1"/>
          </p:cNvSpPr>
          <p:nvPr/>
        </p:nvSpPr>
        <p:spPr>
          <a:xfrm>
            <a:off x="7334250" y="509587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PRECIO PROPUESTO</a:t>
            </a:r>
          </a:p>
        </p:txBody>
      </p:sp>
      <p:sp>
        <p:nvSpPr>
          <p:cNvPr id="19" name="precio editable">
            <a:extLst>
              <a:ext uri="{FF2B5EF4-FFF2-40B4-BE49-F238E27FC236}">
                <a16:creationId xmlns:a16="http://schemas.microsoft.com/office/drawing/2014/main" id="{38C1E990-8C12-46FB-BEC1-A878DE7B5EA8}"/>
              </a:ext>
            </a:extLst>
          </p:cNvPr>
          <p:cNvSpPr>
            <a:spLocks noGrp="1"/>
          </p:cNvSpPr>
          <p:nvPr/>
        </p:nvSpPr>
        <p:spPr>
          <a:xfrm>
            <a:off x="7334250" y="541020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$ __________</a:t>
            </a:r>
          </a:p>
        </p:txBody>
      </p:sp>
      <p:sp>
        <p:nvSpPr>
          <p:cNvPr id="20" name="condicion precio">
            <a:extLst>
              <a:ext uri="{FF2B5EF4-FFF2-40B4-BE49-F238E27FC236}">
                <a16:creationId xmlns:a16="http://schemas.microsoft.com/office/drawing/2014/main" id="{F42997D8-AA0E-47FB-9C0D-2E39097ABEE9}"/>
              </a:ext>
            </a:extLst>
          </p:cNvPr>
          <p:cNvSpPr>
            <a:spLocks noGrp="1"/>
          </p:cNvSpPr>
          <p:nvPr/>
        </p:nvSpPr>
        <p:spPr>
          <a:xfrm>
            <a:off x="7334250" y="5934075"/>
            <a:ext cx="4000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+ IVA / 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to ciudad" descr="MV-CLO-021_foto_HERCAS.png"/>
          <p:cNvPicPr>
            <a:picLocks noChangeAspect="1"/>
          </p:cNvPicPr>
          <p:nvPr/>
        </p:nvPicPr>
        <p:blipFill>
          <a:blip r:embed="rId2"/>
          <a:srcRect t="169" b="16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iltro azu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446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alo azul"/>
          <p:cNvSpPr/>
          <p:nvPr/>
        </p:nvSpPr>
        <p:spPr>
          <a:xfrm>
            <a:off x="3200400" y="1856231"/>
            <a:ext cx="5394960" cy="3246120"/>
          </a:xfrm>
          <a:prstGeom prst="ellipse">
            <a:avLst/>
          </a:prstGeom>
          <a:solidFill>
            <a:srgbClr val="00113E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micírculo amarillo"/>
          <p:cNvSpPr/>
          <p:nvPr/>
        </p:nvSpPr>
        <p:spPr>
          <a:xfrm>
            <a:off x="2852928" y="2450592"/>
            <a:ext cx="822960" cy="411480"/>
          </a:xfrm>
          <a:custGeom>
            <a:avLst/>
            <a:gdLst/>
            <a:ahLst/>
            <a:cxnLst/>
            <a:rect l="l" t="t" r="r" b="b"/>
            <a:pathLst>
              <a:path w="1000" h="500">
                <a:moveTo>
                  <a:pt x="0" y="0"/>
                </a:moveTo>
                <a:lnTo>
                  <a:pt x="1000" y="0"/>
                </a:lnTo>
                <a:lnTo>
                  <a:pt x="998" y="49"/>
                </a:lnTo>
                <a:lnTo>
                  <a:pt x="990" y="98"/>
                </a:lnTo>
                <a:lnTo>
                  <a:pt x="978" y="145"/>
                </a:lnTo>
                <a:lnTo>
                  <a:pt x="962" y="191"/>
                </a:lnTo>
                <a:lnTo>
                  <a:pt x="941" y="236"/>
                </a:lnTo>
                <a:lnTo>
                  <a:pt x="916" y="278"/>
                </a:lnTo>
                <a:lnTo>
                  <a:pt x="887" y="317"/>
                </a:lnTo>
                <a:lnTo>
                  <a:pt x="854" y="354"/>
                </a:lnTo>
                <a:lnTo>
                  <a:pt x="817" y="387"/>
                </a:lnTo>
                <a:lnTo>
                  <a:pt x="778" y="416"/>
                </a:lnTo>
                <a:lnTo>
                  <a:pt x="736" y="441"/>
                </a:lnTo>
                <a:lnTo>
                  <a:pt x="691" y="462"/>
                </a:lnTo>
                <a:lnTo>
                  <a:pt x="645" y="478"/>
                </a:lnTo>
                <a:lnTo>
                  <a:pt x="598" y="490"/>
                </a:lnTo>
                <a:lnTo>
                  <a:pt x="549" y="498"/>
                </a:lnTo>
                <a:lnTo>
                  <a:pt x="500" y="500"/>
                </a:lnTo>
                <a:lnTo>
                  <a:pt x="451" y="498"/>
                </a:lnTo>
                <a:lnTo>
                  <a:pt x="402" y="490"/>
                </a:lnTo>
                <a:lnTo>
                  <a:pt x="355" y="478"/>
                </a:lnTo>
                <a:lnTo>
                  <a:pt x="309" y="462"/>
                </a:lnTo>
                <a:lnTo>
                  <a:pt x="264" y="441"/>
                </a:lnTo>
                <a:lnTo>
                  <a:pt x="222" y="416"/>
                </a:lnTo>
                <a:lnTo>
                  <a:pt x="183" y="387"/>
                </a:lnTo>
                <a:lnTo>
                  <a:pt x="146" y="354"/>
                </a:lnTo>
                <a:lnTo>
                  <a:pt x="113" y="317"/>
                </a:lnTo>
                <a:lnTo>
                  <a:pt x="84" y="278"/>
                </a:lnTo>
                <a:lnTo>
                  <a:pt x="59" y="236"/>
                </a:lnTo>
                <a:lnTo>
                  <a:pt x="38" y="191"/>
                </a:lnTo>
                <a:lnTo>
                  <a:pt x="22" y="145"/>
                </a:lnTo>
                <a:lnTo>
                  <a:pt x="10" y="98"/>
                </a:lnTo>
                <a:lnTo>
                  <a:pt x="2" y="49"/>
                </a:lnTo>
                <a:lnTo>
                  <a:pt x="0" y="0"/>
                </a:lnTo>
                <a:close/>
              </a:path>
            </a:pathLst>
          </a:custGeom>
          <a:solidFill>
            <a:srgbClr val="FFC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zona contorno"/>
          <p:cNvSpPr txBox="1"/>
          <p:nvPr/>
        </p:nvSpPr>
        <p:spPr>
          <a:xfrm>
            <a:off x="3822191" y="2240280"/>
            <a:ext cx="56692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700" b="0">
                <a:ln w="22860">
                  <a:solidFill>
                    <a:srgbClr val="FFFFFF"/>
                  </a:solidFill>
                </a:ln>
                <a:noFill/>
                <a:latin typeface="Arial"/>
              </a:rPr>
              <a:t>ZONA</a:t>
            </a:r>
          </a:p>
        </p:txBody>
      </p:sp>
      <p:sp>
        <p:nvSpPr>
          <p:cNvPr id="7" name="ciudad"/>
          <p:cNvSpPr txBox="1"/>
          <p:nvPr/>
        </p:nvSpPr>
        <p:spPr>
          <a:xfrm>
            <a:off x="3822191" y="3063240"/>
            <a:ext cx="749807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Arial"/>
              </a:rPr>
              <a:t>CALI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n 20" descr="image.jpg"/>
          <p:cNvPicPr>
            <a:picLocks noChangeAspect="1"/>
          </p:cNvPicPr>
          <p:nvPr/>
        </p:nvPicPr>
        <p:blipFill>
          <a:blip r:embed="rId2"/>
          <a:srcRect t="135" b="13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ulo">
            <a:extLst>
              <a:ext uri="{FF2B5EF4-FFF2-40B4-BE49-F238E27FC236}">
                <a16:creationId xmlns:a16="http://schemas.microsoft.com/office/drawing/2014/main" id="{ED9124FA-D741-45A9-9370-815837AE3075}"/>
              </a:ext>
            </a:extLst>
          </p:cNvPr>
          <p:cNvSpPr>
            <a:spLocks noGrp="1"/>
          </p:cNvSpPr>
          <p:nvPr/>
        </p:nvSpPr>
        <p:spPr>
          <a:xfrm>
            <a:off x="590550" y="457200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rPr>
              <a:t>MV-CLO-001 · VALLA AUTOPISTA SUR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68C9D4E1-7357-48CD-BDB3-67A58242CCFC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572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rPr>
              <a:t>METRO VIAS  ·  Cali</a:t>
            </a:r>
          </a:p>
        </p:txBody>
      </p:sp>
      <p:sp>
        <p:nvSpPr>
          <p:cNvPr id="4" name="acento amarillo">
            <a:extLst>
              <a:ext uri="{FF2B5EF4-FFF2-40B4-BE49-F238E27FC236}">
                <a16:creationId xmlns:a16="http://schemas.microsoft.com/office/drawing/2014/main" id="{57B6E0F0-F26E-47DD-909D-C47CDD047449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3009900" cy="666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n 4" descr="image.jpg"/>
          <p:cNvPicPr>
            <a:picLocks noChangeAspect="1"/>
          </p:cNvPicPr>
          <p:nvPr/>
        </p:nvPicPr>
        <p:blipFill>
          <a:blip r:embed="rId3"/>
          <a:srcRect t="2282" b="2282"/>
          <a:stretch>
            <a:fillRect/>
          </a:stretch>
        </p:blipFill>
        <p:spPr>
          <a:xfrm>
            <a:off x="590550" y="1952625"/>
            <a:ext cx="6191250" cy="4438650"/>
          </a:xfrm>
          <a:prstGeom prst="rect">
            <a:avLst/>
          </a:prstGeom>
        </p:spPr>
      </p:pic>
      <p:sp>
        <p:nvSpPr>
          <p:cNvPr id="7" name="acento inferior foto">
            <a:extLst>
              <a:ext uri="{FF2B5EF4-FFF2-40B4-BE49-F238E27FC236}">
                <a16:creationId xmlns:a16="http://schemas.microsoft.com/office/drawing/2014/main" id="{EA84FC2E-F94A-4648-B375-053B6E4BEA66}"/>
              </a:ext>
            </a:extLst>
          </p:cNvPr>
          <p:cNvSpPr>
            <a:spLocks noGrp="1"/>
          </p:cNvSpPr>
          <p:nvPr/>
        </p:nvSpPr>
        <p:spPr>
          <a:xfrm>
            <a:off x="590550" y="6096000"/>
            <a:ext cx="6191250" cy="285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9" name="panel de datos">
            <a:extLst>
              <a:ext uri="{FF2B5EF4-FFF2-40B4-BE49-F238E27FC236}">
                <a16:creationId xmlns:a16="http://schemas.microsoft.com/office/drawing/2014/main" id="{22ABFBEF-1F7B-472D-A878-A1CB5DDF02D5}"/>
              </a:ext>
            </a:extLst>
          </p:cNvPr>
          <p:cNvSpPr>
            <a:spLocks noGrp="1"/>
          </p:cNvSpPr>
          <p:nvPr/>
        </p:nvSpPr>
        <p:spPr>
          <a:xfrm>
            <a:off x="7048500" y="1952625"/>
            <a:ext cx="4667250" cy="4438650"/>
          </a:xfrm>
          <a:prstGeom prst="rect">
            <a:avLst/>
          </a:prstGeom>
          <a:solidFill>
            <a:srgbClr val="0B2254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0" name="ubicacion rotulo">
            <a:extLst>
              <a:ext uri="{FF2B5EF4-FFF2-40B4-BE49-F238E27FC236}">
                <a16:creationId xmlns:a16="http://schemas.microsoft.com/office/drawing/2014/main" id="{7981CAB6-2A06-4012-ABF8-BC8ACB9DE2EA}"/>
              </a:ext>
            </a:extLst>
          </p:cNvPr>
          <p:cNvSpPr>
            <a:spLocks noGrp="1"/>
          </p:cNvSpPr>
          <p:nvPr/>
        </p:nvSpPr>
        <p:spPr>
          <a:xfrm>
            <a:off x="7334250" y="218122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UBICACIÓN</a:t>
            </a:r>
          </a:p>
        </p:txBody>
      </p:sp>
      <p:sp>
        <p:nvSpPr>
          <p:cNvPr id="11" name="ubicacion">
            <a:extLst>
              <a:ext uri="{FF2B5EF4-FFF2-40B4-BE49-F238E27FC236}">
                <a16:creationId xmlns:a16="http://schemas.microsoft.com/office/drawing/2014/main" id="{CBE31495-4897-4074-A74B-0BB9E73596F3}"/>
              </a:ext>
            </a:extLst>
          </p:cNvPr>
          <p:cNvSpPr>
            <a:spLocks noGrp="1"/>
          </p:cNvSpPr>
          <p:nvPr/>
        </p:nvSpPr>
        <p:spPr>
          <a:xfrm>
            <a:off x="7334250" y="2486025"/>
            <a:ext cx="4000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Autopista Sur #53-59</a:t>
            </a:r>
          </a:p>
        </p:txBody>
      </p:sp>
      <p:sp>
        <p:nvSpPr>
          <p:cNvPr id="12" name="sentido">
            <a:extLst>
              <a:ext uri="{FF2B5EF4-FFF2-40B4-BE49-F238E27FC236}">
                <a16:creationId xmlns:a16="http://schemas.microsoft.com/office/drawing/2014/main" id="{5077023F-8ABF-4D3E-B725-D6FC8255FECE}"/>
              </a:ext>
            </a:extLst>
          </p:cNvPr>
          <p:cNvSpPr>
            <a:spLocks noGrp="1"/>
          </p:cNvSpPr>
          <p:nvPr/>
        </p:nvSpPr>
        <p:spPr>
          <a:xfrm>
            <a:off x="7334250" y="2924175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Sentido: sur → norte</a:t>
            </a:r>
          </a:p>
        </p:txBody>
      </p:sp>
      <p:sp>
        <p:nvSpPr>
          <p:cNvPr id="13" name="formato rotulo">
            <a:extLst>
              <a:ext uri="{FF2B5EF4-FFF2-40B4-BE49-F238E27FC236}">
                <a16:creationId xmlns:a16="http://schemas.microsoft.com/office/drawing/2014/main" id="{768493D1-E5E1-4E1E-BDAB-2B08B4CAD500}"/>
              </a:ext>
            </a:extLst>
          </p:cNvPr>
          <p:cNvSpPr>
            <a:spLocks noGrp="1"/>
          </p:cNvSpPr>
          <p:nvPr/>
        </p:nvSpPr>
        <p:spPr>
          <a:xfrm>
            <a:off x="7334250" y="3381375"/>
            <a:ext cx="4000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FORMATO</a:t>
            </a:r>
          </a:p>
        </p:txBody>
      </p:sp>
      <p:sp>
        <p:nvSpPr>
          <p:cNvPr id="14" name="formato">
            <a:extLst>
              <a:ext uri="{FF2B5EF4-FFF2-40B4-BE49-F238E27FC236}">
                <a16:creationId xmlns:a16="http://schemas.microsoft.com/office/drawing/2014/main" id="{DA015896-13E0-4F41-9CD9-FE1E4D645B77}"/>
              </a:ext>
            </a:extLst>
          </p:cNvPr>
          <p:cNvSpPr>
            <a:spLocks noGrp="1"/>
          </p:cNvSpPr>
          <p:nvPr/>
        </p:nvSpPr>
        <p:spPr>
          <a:xfrm>
            <a:off x="7334250" y="3686175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Valla tradicional · 12 × 4 m</a:t>
            </a:r>
          </a:p>
        </p:txBody>
      </p:sp>
      <p:sp>
        <p:nvSpPr>
          <p:cNvPr id="15" name="entorno rotulo">
            <a:extLst>
              <a:ext uri="{FF2B5EF4-FFF2-40B4-BE49-F238E27FC236}">
                <a16:creationId xmlns:a16="http://schemas.microsoft.com/office/drawing/2014/main" id="{D5CD8F3E-8B19-4A2C-B02E-AE67CBF6AE16}"/>
              </a:ext>
            </a:extLst>
          </p:cNvPr>
          <p:cNvSpPr>
            <a:spLocks noGrp="1"/>
          </p:cNvSpPr>
          <p:nvPr/>
        </p:nvSpPr>
        <p:spPr>
          <a:xfrm>
            <a:off x="7334250" y="41338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ENTORNO</a:t>
            </a:r>
          </a:p>
        </p:txBody>
      </p:sp>
      <p:sp>
        <p:nvSpPr>
          <p:cNvPr id="16" name="entorno">
            <a:extLst>
              <a:ext uri="{FF2B5EF4-FFF2-40B4-BE49-F238E27FC236}">
                <a16:creationId xmlns:a16="http://schemas.microsoft.com/office/drawing/2014/main" id="{840FD2A1-1E9C-4513-BF01-802CFDB14C6B}"/>
              </a:ext>
            </a:extLst>
          </p:cNvPr>
          <p:cNvSpPr>
            <a:spLocks noGrp="1"/>
          </p:cNvSpPr>
          <p:nvPr/>
        </p:nvSpPr>
        <p:spPr>
          <a:xfrm>
            <a:off x="7334250" y="439102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Comfandi del Prado y Canchas Panamericanas</a:t>
            </a:r>
          </a:p>
        </p:txBody>
      </p:sp>
      <p:sp>
        <p:nvSpPr>
          <p:cNvPr id="17" name="separador">
            <a:extLst>
              <a:ext uri="{FF2B5EF4-FFF2-40B4-BE49-F238E27FC236}">
                <a16:creationId xmlns:a16="http://schemas.microsoft.com/office/drawing/2014/main" id="{90D52CEC-7C76-428C-B048-D32FD36991AE}"/>
              </a:ext>
            </a:extLst>
          </p:cNvPr>
          <p:cNvSpPr>
            <a:spLocks noGrp="1"/>
          </p:cNvSpPr>
          <p:nvPr/>
        </p:nvSpPr>
        <p:spPr>
          <a:xfrm>
            <a:off x="7334250" y="4886325"/>
            <a:ext cx="4000500" cy="285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8" name="precio rotulo">
            <a:extLst>
              <a:ext uri="{FF2B5EF4-FFF2-40B4-BE49-F238E27FC236}">
                <a16:creationId xmlns:a16="http://schemas.microsoft.com/office/drawing/2014/main" id="{20E3E553-007A-44A6-85F9-B284C1CE02AE}"/>
              </a:ext>
            </a:extLst>
          </p:cNvPr>
          <p:cNvSpPr>
            <a:spLocks noGrp="1"/>
          </p:cNvSpPr>
          <p:nvPr/>
        </p:nvSpPr>
        <p:spPr>
          <a:xfrm>
            <a:off x="7334250" y="509587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PRECIO PROPUESTO</a:t>
            </a:r>
          </a:p>
        </p:txBody>
      </p:sp>
      <p:sp>
        <p:nvSpPr>
          <p:cNvPr id="19" name="precio editable">
            <a:extLst>
              <a:ext uri="{FF2B5EF4-FFF2-40B4-BE49-F238E27FC236}">
                <a16:creationId xmlns:a16="http://schemas.microsoft.com/office/drawing/2014/main" id="{237DDBED-74AC-446E-BE01-95182B363954}"/>
              </a:ext>
            </a:extLst>
          </p:cNvPr>
          <p:cNvSpPr>
            <a:spLocks noGrp="1"/>
          </p:cNvSpPr>
          <p:nvPr/>
        </p:nvSpPr>
        <p:spPr>
          <a:xfrm>
            <a:off x="7334250" y="541020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$ __________</a:t>
            </a:r>
          </a:p>
        </p:txBody>
      </p:sp>
      <p:sp>
        <p:nvSpPr>
          <p:cNvPr id="20" name="condicion precio">
            <a:extLst>
              <a:ext uri="{FF2B5EF4-FFF2-40B4-BE49-F238E27FC236}">
                <a16:creationId xmlns:a16="http://schemas.microsoft.com/office/drawing/2014/main" id="{9DFCFC32-E5B6-45C5-8A3C-32CD0C8A3E19}"/>
              </a:ext>
            </a:extLst>
          </p:cNvPr>
          <p:cNvSpPr>
            <a:spLocks noGrp="1"/>
          </p:cNvSpPr>
          <p:nvPr/>
        </p:nvSpPr>
        <p:spPr>
          <a:xfrm>
            <a:off x="7334250" y="5934075"/>
            <a:ext cx="4000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+ IVA / 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</Words>
  <Application>Microsoft Office PowerPoint</Application>
  <DocSecurity>0</DocSecurity>
  <PresentationFormat>Panorámica</PresentationFormat>
  <Paragraphs>13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Aptos</vt:lpstr>
      <vt:lpstr>Montserrat</vt:lpstr>
      <vt:lpstr>ChatGPT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Carlos Alberto Gonzalez</cp:lastModifiedBy>
  <cp:revision>2</cp:revision>
  <dcterms:created xsi:type="dcterms:W3CDTF">2026-10-07T22:34:44Z</dcterms:created>
  <dcterms:modified xsi:type="dcterms:W3CDTF">2026-10-10T15:16:15Z</dcterms:modified>
</cp:coreProperties>
</file>